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🌿 AgroLens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8E9"/>
                </a:solidFill>
                <a:latin typeface="Calibri"/>
              </a:rPr>
              <a:t>Precision Pesticide Intelligence
via Satellite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256032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BB6A"/>
                </a:solidFill>
                <a:latin typeface="Calibri"/>
              </a:rPr>
              <a:t>Reduce pesticide use by 20–40%
through satellite-driven VRA maps.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78"/>
                </a:solidFill>
                <a:latin typeface="Calibri"/>
              </a:rPr>
              <a:t>Seed Round  |  May 2026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457200"/>
            <a:ext cx="6492240" cy="5303520"/>
          </a:xfrm>
          <a:prstGeom prst="rect">
            <a:avLst/>
          </a:prstGeom>
          <a:solidFill>
            <a:srgbClr val="1A231A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457200"/>
            <a:ext cx="6492240" cy="5303520"/>
          </a:xfrm>
          <a:prstGeom prst="rect">
            <a:avLst/>
          </a:prstGeom>
          <a:solidFill>
            <a:srgbClr val="12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60459" y="722376"/>
            <a:ext cx="1947672" cy="169712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39528" y="2048256"/>
            <a:ext cx="1168603" cy="95463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6468" y="987552"/>
            <a:ext cx="1298448" cy="21214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5692" y="2472537"/>
            <a:ext cx="1623060" cy="116677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12787" y="1252728"/>
            <a:ext cx="1623060" cy="238658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1700" y="3215030"/>
            <a:ext cx="1298448" cy="106070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4649" y="881481"/>
            <a:ext cx="1947672" cy="3447288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23252" y="3639312"/>
            <a:ext cx="1623060" cy="1060704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4804" y="669340"/>
            <a:ext cx="5972860" cy="434888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4649" y="5124297"/>
            <a:ext cx="137160" cy="137160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9241" y="50988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Healthy — 60%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3409" y="5124297"/>
            <a:ext cx="137160" cy="137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8001" y="50988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Slight stress — 100%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72169" y="5124297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6761" y="50988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Moderate — 120%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80929" y="5124297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45521" y="50988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High stress — 130%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457200"/>
            <a:ext cx="6492240" cy="292608"/>
          </a:xfrm>
          <a:prstGeom prst="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9530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A825"/>
                </a:solidFill>
                <a:latin typeface="Calibri"/>
              </a:rPr>
              <a:t>  NDVI Prescription Map — Field: Schaller-West  |  2026-05-10  |  Rapeseed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5897880"/>
            <a:ext cx="1645920" cy="384048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D1F0D"/>
                </a:solidFill>
                <a:latin typeface="Calibri"/>
              </a:rPr>
              <a:t>€11.7B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5897880"/>
            <a:ext cx="2194560" cy="384048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20–40% Input Savings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5897880"/>
            <a:ext cx="173736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€0 Satellite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Farmers are flying blind — and paying for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560" y="1376680"/>
            <a:ext cx="3657600" cy="5029200"/>
          </a:xfrm>
          <a:prstGeom prst="rect">
            <a:avLst/>
          </a:prstGeom>
          <a:solidFill>
            <a:srgbClr val="CC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A"/>
                </a:solidFill>
                <a:latin typeface="Calibri"/>
              </a:rPr>
              <a:t>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1F"/>
                </a:solidFill>
                <a:latin typeface="Calibri"/>
              </a:rPr>
              <a:t>Wasted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2432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Farmers apply pesticides uniformly across entire fields — even where crops
are healthy and don't need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00600"/>
            <a:ext cx="3383280" cy="123444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1032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€20–50 wasted
per hectare, per season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1047" y="1376680"/>
            <a:ext cx="3657600" cy="5029200"/>
          </a:xfrm>
          <a:prstGeom prst="rect">
            <a:avLst/>
          </a:prstGeom>
          <a:solidFill>
            <a:srgbClr val="CC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7" y="13258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7" y="1325880"/>
            <a:ext cx="36576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14904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A"/>
                </a:solidFill>
                <a:latin typeface="Calibri"/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1F"/>
                </a:solidFill>
                <a:latin typeface="Calibri"/>
              </a:rPr>
              <a:t>Environmental Harm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262432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Over-application leaches into groundwater, harms biodiversity,
and violates EU Farm to Fork targets.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7" y="4800600"/>
            <a:ext cx="3383280" cy="123444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491032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EU mandates 50% reduction
in pesticide use by 2030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5534" y="1376680"/>
            <a:ext cx="3657600" cy="5029200"/>
          </a:xfrm>
          <a:prstGeom prst="rect">
            <a:avLst/>
          </a:prstGeom>
          <a:solidFill>
            <a:srgbClr val="CC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4734" y="132588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4" y="1325880"/>
            <a:ext cx="36576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4" y="14904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A"/>
                </a:solidFill>
                <a:latin typeface="Calibr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4" y="2167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1F"/>
                </a:solidFill>
                <a:latin typeface="Calibri"/>
              </a:rPr>
              <a:t>Compliance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4" y="2624328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German law §67 PflSchG requires full documentation of every
application — manual records are error-prone and time-consuming.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1894" y="4800600"/>
            <a:ext cx="3383280" cy="123444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4" y="491032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Fines up to €50,000
for non-compliance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9078"/>
                </a:solidFill>
                <a:latin typeface="Calibri"/>
              </a:rPr>
              <a:t>Sources: McKinsey Voice of the Global Farmer 2024 · EU Farm to Fork Strategy · §67 PflSchG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AgroLens turns free satellite data into actionable pesticide prescription maps.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120640"/>
          </a:xfrm>
          <a:prstGeom prst="rect">
            <a:avLst/>
          </a:prstGeom>
          <a:solidFill>
            <a:srgbClr val="1A231A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5120640"/>
          </a:xfrm>
          <a:prstGeom prst="rect">
            <a:avLst/>
          </a:prstGeom>
          <a:solidFill>
            <a:srgbClr val="12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1801" y="1490472"/>
            <a:ext cx="1591056" cy="16386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78223" y="2770632"/>
            <a:ext cx="954633" cy="921715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52344" y="1746504"/>
            <a:ext cx="1060704" cy="204825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3180283"/>
            <a:ext cx="1325880" cy="11265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0745" y="2002536"/>
            <a:ext cx="1325880" cy="2304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3238" y="3897172"/>
            <a:ext cx="1060704" cy="10241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7900" y="1644091"/>
            <a:ext cx="1591056" cy="3328416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2534" y="4306824"/>
            <a:ext cx="1325880" cy="1024128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30" y="1439265"/>
            <a:ext cx="4879238" cy="4198924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" y="5740603"/>
            <a:ext cx="137160" cy="137160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" y="571520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Healthy — 60%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86660" y="5740603"/>
            <a:ext cx="137160" cy="137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1252" y="571520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Slight stress — 100%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95420" y="5740603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0012" y="571520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Moderate — 120%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04180" y="5740603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8772" y="571520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High stress — 130%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234440"/>
            <a:ext cx="5303520" cy="292608"/>
          </a:xfrm>
          <a:prstGeom prst="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12725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A825"/>
                </a:solidFill>
                <a:latin typeface="Calibri"/>
              </a:rPr>
              <a:t>  NDVI Prescription Map — Field: Schaller-West  |  2026-05-10  |  Rapeseed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325880"/>
            <a:ext cx="594360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9A825"/>
                </a:solidFill>
                <a:latin typeface="Calibri"/>
              </a:rPr>
              <a:t>🛰️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Sentinel-2 Satellite Imagery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76479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ESA provides free multispectral imagery every 5 days. Zero data cost — a structural advantage competitors can't match.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651760"/>
            <a:ext cx="594360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9A825"/>
                </a:solidFill>
                <a:latin typeface="Calibr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AI Zone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09067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Our ML pipeline computes NDVI &amp; NDRE indices and runs k-means clustering to split every field into stress zones automatically.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977640"/>
            <a:ext cx="594360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9A825"/>
                </a:solidFill>
                <a:latin typeface="Calibri"/>
              </a:rPr>
              <a:t>🗺️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Variable Rate Prescription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1655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Each zone gets a precise spray rate (60%–130% of base). Spray less where healthy, more where stressed.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303520"/>
            <a:ext cx="5943600" cy="1170432"/>
          </a:xfrm>
          <a:prstGeom prst="rect">
            <a:avLst/>
          </a:prstGeom>
          <a:solidFill>
            <a:srgbClr val="1A2E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5486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9A825"/>
                </a:solidFill>
                <a:latin typeface="Calibri"/>
              </a:rPr>
              <a:t>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94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ISOBUS-Ready Export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74243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Prescription maps export as TASKDATA.XML (ISO 11783-10) for direct upload to any modern tractor terminal. No manual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Five steps from satellite orbit to tractor terminal — fully automated.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084831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084831" cy="54864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7" y="1508760"/>
            <a:ext cx="585216" cy="58521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7" y="150876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063240"/>
            <a:ext cx="1865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1F"/>
                </a:solidFill>
                <a:latin typeface="Calibri"/>
              </a:rPr>
              <a:t>Field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611880"/>
            <a:ext cx="18653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Farmer draws field boundary on map or uploads GeoJSON/KML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7" y="34015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D1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3471" y="1371600"/>
            <a:ext cx="2084831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33471" y="1371600"/>
            <a:ext cx="2084831" cy="54864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78" y="1508760"/>
            <a:ext cx="585216" cy="58521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78" y="150876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6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🛰️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199" y="3063240"/>
            <a:ext cx="1865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1F"/>
                </a:solidFill>
                <a:latin typeface="Calibri"/>
              </a:rPr>
              <a:t>Imagery Fetch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199" y="3611880"/>
            <a:ext cx="18653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Sentinel-2 L2A scenes retrieved automatically via Copernicus API every 5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8" y="34015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D1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6902" y="1371600"/>
            <a:ext cx="2084831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46902" y="1371600"/>
            <a:ext cx="2084831" cy="54864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96709" y="1508760"/>
            <a:ext cx="585216" cy="58521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09" y="150876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17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0" y="3063240"/>
            <a:ext cx="1865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1F"/>
                </a:solidFill>
                <a:latin typeface="Calibri"/>
              </a:rPr>
              <a:t>Index Computation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0" y="3611880"/>
            <a:ext cx="18653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NDVI &amp; NDRE computed per pixel. Cloud masking and 10-day median compositing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09" y="34015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D1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0333" y="1371600"/>
            <a:ext cx="2084831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0333" y="1371600"/>
            <a:ext cx="2084831" cy="54864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0" y="1508760"/>
            <a:ext cx="585216" cy="58521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0" y="150876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48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1" y="3063240"/>
            <a:ext cx="1865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1F"/>
                </a:solidFill>
                <a:latin typeface="Calibri"/>
              </a:rPr>
              <a:t>Zone Delineation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061" y="3611880"/>
            <a:ext cx="18653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k-means clustering splits each field into management zones (low/mid/high stress)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0" y="34015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D1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73764" y="1371600"/>
            <a:ext cx="2084831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73764" y="1371600"/>
            <a:ext cx="2084831" cy="54864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23571" y="1508760"/>
            <a:ext cx="585216" cy="58521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23571" y="150876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58979" y="2240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3492" y="3063240"/>
            <a:ext cx="1865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1F"/>
                </a:solidFill>
                <a:latin typeface="Calibri"/>
              </a:rPr>
              <a:t>Prescription Export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3492" y="3611880"/>
            <a:ext cx="18653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VRA rates assigned per zone → TASKDATA.XML + Shapefile + PDF report generated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⏱  End-to-end processing completes within 24 hours of new imagery becoming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Dashboard · Prescription Map · NDVI Analytics · Mobile-Ready PWA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6217920" cy="4937760"/>
          </a:xfrm>
          <a:prstGeom prst="rect">
            <a:avLst/>
          </a:prstGeom>
          <a:solidFill>
            <a:srgbClr val="1A231A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217920" cy="4937760"/>
          </a:xfrm>
          <a:prstGeom prst="rect">
            <a:avLst/>
          </a:prstGeom>
          <a:solidFill>
            <a:srgbClr val="12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26433" y="1481328"/>
            <a:ext cx="1865376" cy="158008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72584" y="2715768"/>
            <a:ext cx="1119225" cy="8887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8104" y="1728216"/>
            <a:ext cx="1243584" cy="197510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39896" y="3110788"/>
            <a:ext cx="1554480" cy="1086307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61057" y="1975104"/>
            <a:ext cx="1554480" cy="222199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1566" y="3802075"/>
            <a:ext cx="1243584" cy="9875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8756" y="1629460"/>
            <a:ext cx="1865376" cy="3209544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87982" y="4197096"/>
            <a:ext cx="1554480" cy="987552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" y="1431950"/>
            <a:ext cx="5720486" cy="404896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8756" y="5579668"/>
            <a:ext cx="137160" cy="137160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" y="55542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Healthy — 60%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7516" y="5579668"/>
            <a:ext cx="137160" cy="137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2108" y="55542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Slight stress — 100%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6276" y="5579668"/>
            <a:ext cx="137160" cy="137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0868" y="55542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Moderate — 120%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5036" y="5579668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9628" y="55542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High stress — 130%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234440"/>
            <a:ext cx="6217920" cy="292608"/>
          </a:xfrm>
          <a:prstGeom prst="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2725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A825"/>
                </a:solidFill>
                <a:latin typeface="Calibri"/>
              </a:rPr>
              <a:t>  NDVI Prescription Map — Field: Schaller-West  |  2026-05-10  |  Rapeseed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234440"/>
            <a:ext cx="5120640" cy="2468880"/>
          </a:xfrm>
          <a:prstGeom prst="rect">
            <a:avLst/>
          </a:prstGeom>
          <a:solidFill>
            <a:srgbClr val="0F1A0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307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NDVI Trend — 12-Month Rolling Average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1618488"/>
            <a:ext cx="19050" cy="1691640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86600" y="3291840"/>
            <a:ext cx="4663440" cy="19050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0" y="2750515"/>
            <a:ext cx="342900" cy="54132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3320" y="2818180"/>
            <a:ext cx="342900" cy="473659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3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4320" y="2598267"/>
            <a:ext cx="342900" cy="6935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4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192274"/>
            <a:ext cx="342900" cy="1099566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6320" y="2073859"/>
            <a:ext cx="342900" cy="1217980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6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7320" y="1972360"/>
            <a:ext cx="342900" cy="1319479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37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J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1921611"/>
            <a:ext cx="342900" cy="1370228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J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99320" y="2023110"/>
            <a:ext cx="342900" cy="1268730"/>
          </a:xfrm>
          <a:prstGeom prst="rect">
            <a:avLst/>
          </a:prstGeom>
          <a:solidFill>
            <a:srgbClr val="33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99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80320" y="2243023"/>
            <a:ext cx="342900" cy="104881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0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61320" y="2479852"/>
            <a:ext cx="342900" cy="811987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61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42320" y="2699766"/>
            <a:ext cx="342900" cy="59207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42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23320" y="2801264"/>
            <a:ext cx="342900" cy="490575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23320" y="3329940"/>
            <a:ext cx="381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89078"/>
                </a:solidFill>
                <a:latin typeface="Calibri"/>
              </a:rPr>
              <a:t>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524000"/>
            <a:ext cx="29260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89078"/>
                </a:solidFill>
                <a:latin typeface="Calibri"/>
              </a:rPr>
              <a:t>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1600200"/>
            <a:ext cx="4663440" cy="6350"/>
          </a:xfrm>
          <a:prstGeom prst="rect">
            <a:avLst/>
          </a:prstGeom>
          <a:solidFill>
            <a:srgbClr val="33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2200656"/>
            <a:ext cx="29260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89078"/>
                </a:solidFill>
                <a:latin typeface="Calibri"/>
              </a:rPr>
              <a:t>0.6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6600" y="2276856"/>
            <a:ext cx="4663440" cy="6350"/>
          </a:xfrm>
          <a:prstGeom prst="rect">
            <a:avLst/>
          </a:prstGeom>
          <a:solidFill>
            <a:srgbClr val="33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2708148"/>
            <a:ext cx="29260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89078"/>
                </a:solidFill>
                <a:latin typeface="Calibri"/>
              </a:rPr>
              <a:t>0.3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2784348"/>
            <a:ext cx="4663440" cy="6350"/>
          </a:xfrm>
          <a:prstGeom prst="rect">
            <a:avLst/>
          </a:prstGeom>
          <a:solidFill>
            <a:srgbClr val="33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66560" y="3840480"/>
            <a:ext cx="5120640" cy="2331720"/>
          </a:xfrm>
          <a:prstGeom prst="rect">
            <a:avLst/>
          </a:prstGeom>
          <a:solidFill>
            <a:srgbClr val="122212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Mapbox GL satellite basemap with live NDVI overlay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315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Recharts time-series with 12-month NDVI history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46542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One-click ISOBUS export (TASKDATA.XML + Shapefile + PDF)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49926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Email/SMS alerts on crop stress threshold breach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5330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Progressive Web App — works offline in the field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✓  API access for ERP / farm management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Precision agriculture is a $24B market growing at 13% CAGR — we target the highest-value segment.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3035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2194560"/>
            <a:ext cx="3657600" cy="36576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3017520"/>
            <a:ext cx="2011680" cy="201168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201168" cy="201168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79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1F"/>
                </a:solidFill>
                <a:latin typeface="Calibri"/>
              </a:rPr>
              <a:t>TAM: $24.1B by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Global precision agriculture
(Grand View Research, 13.1% CAGR)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201168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66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1F"/>
                </a:solidFill>
                <a:latin typeface="Calibri"/>
              </a:rPr>
              <a:t>SAM: €264M ARR potential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30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33M digitally addressable hectares
in EU + US at €8/ha blended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63440"/>
            <a:ext cx="201168" cy="20116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253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1F"/>
                </a:solidFill>
                <a:latin typeface="Calibri"/>
              </a:rPr>
              <a:t>SOM: €3.95M ARR by 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1947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400,000 ha managed · 1.2% of 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A825"/>
                </a:solidFill>
                <a:latin typeface="Calibri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1F"/>
                </a:solidFill>
                <a:latin typeface="Calibri"/>
              </a:rPr>
              <a:t>Why Now?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828800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1883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13.1% CAGR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Fastest-growing segment of digital agriculture globally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697480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2807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2752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EU Farm to Fork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063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Binding target: −50% pesticide use by 2030 — compliance tools are mandatory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566160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6210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CAP Eco-Schemes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Direct EU subsidy payments for documented precision application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434840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🛰️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4489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Open Satellite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4800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ESA Copernicus provides free 5-day imagery — our zero-cost data moat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5303520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5413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5358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Input Price Inflation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5669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Pesticide costs surged 40–60% post-2022 — ROI for VRA tools doubled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9078"/>
                </a:solidFill>
                <a:latin typeface="Calibri"/>
              </a:rPr>
              <a:t>Source: Grand View Research 2024 · EU Commission DG AGRI · GMInsights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Per-hectare SaaS subscription + API licensing + government contracts.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3200400"/>
          </a:xfrm>
          <a:prstGeom prst="rect">
            <a:avLst/>
          </a:prstGeom>
          <a:solidFill>
            <a:srgbClr val="1A301A"/>
          </a:solidFill>
          <a:ln w="12700">
            <a:solidFill>
              <a:srgbClr val="789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89078"/>
                </a:solidFill>
                <a:latin typeface="Calibri"/>
              </a:rPr>
              <a:t>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1 field · 15 ha · NDVI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417320"/>
            <a:ext cx="2743200" cy="3200400"/>
          </a:xfrm>
          <a:prstGeom prst="rect">
            <a:avLst/>
          </a:prstGeom>
          <a:solidFill>
            <a:srgbClr val="1A301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41732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€49 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5 fields · 100 ha · All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9078"/>
                </a:solidFill>
                <a:latin typeface="Calibri"/>
              </a:rPr>
              <a:t>€490 /yr  (save 20%)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2743200" cy="3200400"/>
          </a:xfrm>
          <a:prstGeom prst="rect">
            <a:avLst/>
          </a:prstGeom>
          <a:solidFill>
            <a:srgbClr val="2B4A1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7432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57416" y="1097280"/>
            <a:ext cx="1645920" cy="27432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F0D"/>
                </a:solidFill>
                <a:latin typeface="Calibri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A825"/>
                </a:solidFill>
                <a:latin typeface="Calibri"/>
              </a:rPr>
              <a:t>Farmer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011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€149 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50 fields · 500 ha · Full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9078"/>
                </a:solidFill>
                <a:latin typeface="Calibri"/>
              </a:rPr>
              <a:t>€1,490 /yr  (save 20%)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417320"/>
            <a:ext cx="2743200" cy="3200400"/>
          </a:xfrm>
          <a:prstGeom prst="rect">
            <a:avLst/>
          </a:prstGeom>
          <a:solidFill>
            <a:srgbClr val="1A30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53144" y="1417320"/>
            <a:ext cx="2743200" cy="54864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  <a:latin typeface="Calibri"/>
              </a:rP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011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€599 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8E9"/>
                </a:solidFill>
                <a:latin typeface="Calibri"/>
              </a:rPr>
              <a:t>Unlimited · Lohnunternehmer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3337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89078"/>
                </a:solidFill>
                <a:latin typeface="Calibri"/>
              </a:rPr>
              <a:t>€5,990 /yr  (save 20%)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892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  <a:latin typeface="Calibri"/>
              </a:rPr>
              <a:t>Revenue Streams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394960"/>
            <a:ext cx="3749039" cy="1188720"/>
          </a:xfrm>
          <a:prstGeom prst="rect">
            <a:avLst/>
          </a:prstGeom>
          <a:solidFill>
            <a:srgbClr val="1A30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54681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BB6A"/>
                </a:solidFill>
                <a:latin typeface="Calibri"/>
              </a:rPr>
              <a:t>Primary: SaaS Subscriptions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870448"/>
            <a:ext cx="3529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8E9"/>
                </a:solidFill>
                <a:latin typeface="Calibri"/>
              </a:rPr>
              <a:t>Per-farm, per-hectare recurring revenue. Predictable, scalable, high-margin (72–83% gross margin).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5394960"/>
            <a:ext cx="3749039" cy="1188720"/>
          </a:xfrm>
          <a:prstGeom prst="rect">
            <a:avLst/>
          </a:prstGeom>
          <a:solidFill>
            <a:srgbClr val="1A30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54681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BB6A"/>
                </a:solidFill>
                <a:latin typeface="Calibri"/>
              </a:rPr>
              <a:t>Secondary: API Licensing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5870448"/>
            <a:ext cx="3529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8E9"/>
                </a:solidFill>
                <a:latin typeface="Calibri"/>
              </a:rPr>
              <a:t>Agri-retailers embed AgroLens data at €2.50/ha/yr. Minimum €10K/contract. Near-zero marginal cost.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5394960"/>
            <a:ext cx="3749039" cy="1188720"/>
          </a:xfrm>
          <a:prstGeom prst="rect">
            <a:avLst/>
          </a:prstGeom>
          <a:solidFill>
            <a:srgbClr val="1A301A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54681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BB6A"/>
                </a:solidFill>
                <a:latin typeface="Calibri"/>
              </a:rPr>
              <a:t>Tertiary: Government Contracts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5870448"/>
            <a:ext cx="35295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8E9"/>
                </a:solidFill>
                <a:latin typeface="Calibri"/>
              </a:rPr>
              <a:t>National agencies &amp; research institutions pay €100K–500K/yr for regional monitoring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Conservative path to EBITDA breakeven at Month 30 (Q3 2028).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809240" cy="493776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74648"/>
            <a:ext cx="2688336" cy="41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298448"/>
            <a:ext cx="2626360" cy="4937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374648"/>
            <a:ext cx="2505456" cy="41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1 —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298448"/>
            <a:ext cx="2626360" cy="4937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374648"/>
            <a:ext cx="2505456" cy="41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2 —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298448"/>
            <a:ext cx="2900680" cy="4937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374648"/>
            <a:ext cx="2779776" cy="41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Year 3 — 2028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92224"/>
            <a:ext cx="2809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843024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Subscribed Hectares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792224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843024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20,000 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792224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843024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120,000 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792224"/>
            <a:ext cx="2900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1843024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400,000 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86000"/>
            <a:ext cx="280924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336800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SaaS ARR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286000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27832" y="2336800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€160,000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286000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2336800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€960,000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286000"/>
            <a:ext cx="290068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2336800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€3,200,000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79776"/>
            <a:ext cx="2809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2830576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API Licensing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2779776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7832" y="2830576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2779776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2830576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€90,000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779776"/>
            <a:ext cx="2900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2830576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€300,000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273552"/>
            <a:ext cx="280924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324352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Government Contracts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3273552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7832" y="3324352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3273552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9592" y="3324352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€150,000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273552"/>
            <a:ext cx="290068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2" y="3324352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€450,000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67328"/>
            <a:ext cx="2809240" cy="493776"/>
          </a:xfrm>
          <a:prstGeom prst="rect">
            <a:avLst/>
          </a:prstGeom>
          <a:solidFill>
            <a:srgbClr val="1B4D1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3818128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1F"/>
                </a:solidFill>
                <a:latin typeface="Calibri"/>
              </a:rPr>
              <a:t>Total ARR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3767328"/>
            <a:ext cx="262636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27832" y="3818128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D1F"/>
                </a:solidFill>
                <a:latin typeface="Calibri"/>
              </a:rPr>
              <a:t>€160,000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767328"/>
            <a:ext cx="262636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79592" y="3818128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D1F"/>
                </a:solidFill>
                <a:latin typeface="Calibri"/>
              </a:rPr>
              <a:t>€1,200,000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3767328"/>
            <a:ext cx="290068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1352" y="3818128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D1F"/>
                </a:solidFill>
                <a:latin typeface="Calibri"/>
              </a:rPr>
              <a:t>€3,950,000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261104"/>
            <a:ext cx="280924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4311904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Gross Profit (72–83% GM)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4261104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7832" y="4311904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€115,000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06440" y="4261104"/>
            <a:ext cx="262636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79592" y="4311904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€936,000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4261104"/>
            <a:ext cx="2900680" cy="493776"/>
          </a:xfrm>
          <a:prstGeom prst="rect">
            <a:avLst/>
          </a:prstGeom>
          <a:solidFill>
            <a:srgbClr val="F1F8F1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31352" y="4311904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€3,279,000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754880"/>
            <a:ext cx="2809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" y="4805680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Operating Expenses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54680" y="4754880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27832" y="4805680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€480,000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4754880"/>
            <a:ext cx="2626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79592" y="4805680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€1,100,000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200" y="4754880"/>
            <a:ext cx="2900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31352" y="4805680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€2,200,000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248656"/>
            <a:ext cx="2809240" cy="493776"/>
          </a:xfrm>
          <a:prstGeom prst="rect">
            <a:avLst/>
          </a:prstGeom>
          <a:solidFill>
            <a:srgbClr val="1B4D1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" y="5299456"/>
            <a:ext cx="268833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1F"/>
                </a:solidFill>
                <a:latin typeface="Calibri"/>
              </a:rPr>
              <a:t>EBITDA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54680" y="5248656"/>
            <a:ext cx="262636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27832" y="5299456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−€365,000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5248656"/>
            <a:ext cx="262636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79592" y="5299456"/>
            <a:ext cx="250545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71C1C"/>
                </a:solidFill>
                <a:latin typeface="Calibri"/>
              </a:rPr>
              <a:t>−€164,000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5248656"/>
            <a:ext cx="2900680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31352" y="5299456"/>
            <a:ext cx="2779776" cy="44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+€1,079,000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" y="58704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D1F"/>
                </a:solidFill>
                <a:latin typeface="Calibri"/>
              </a:rPr>
              <a:t>Key Assumptions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616305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55"/>
                </a:solidFill>
                <a:latin typeface="Calibri"/>
              </a:rPr>
              <a:t>Average farm: 400 ha  ·  Blended ARPU: €8/ha/yr  ·  Annual churn: 15% Y1 → 7% Y3  ·  Infra cost: €0.20/ha/yr  ·  Team: 4 FTE Y1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Strong LTV:CAC ratio and a 6-month payback period from day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194560" cy="3474720"/>
          </a:xfrm>
          <a:prstGeom prst="rect">
            <a:avLst/>
          </a:prstGeom>
          <a:solidFill>
            <a:srgbClr val="12221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1945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13.3×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LTV : CAC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29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78"/>
                </a:solidFill>
                <a:latin typeface="Calibri"/>
              </a:rPr>
              <a:t>Target is &gt;3×
We are 4× above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2" y="1508760"/>
            <a:ext cx="2194560" cy="3474720"/>
          </a:xfrm>
          <a:prstGeom prst="rect">
            <a:avLst/>
          </a:prstGeom>
          <a:solidFill>
            <a:srgbClr val="12221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508760"/>
            <a:ext cx="21945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783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6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CAC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429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78"/>
                </a:solidFill>
                <a:latin typeface="Calibri"/>
              </a:rPr>
              <a:t>€1,200 CAC recovered in
6 months at 72% gross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508760"/>
            <a:ext cx="2194560" cy="3474720"/>
          </a:xfrm>
          <a:prstGeom prst="rect">
            <a:avLst/>
          </a:prstGeom>
          <a:solidFill>
            <a:srgbClr val="12221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1508760"/>
            <a:ext cx="21945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783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€16K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LTV (EU farm)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3429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78"/>
                </a:solidFill>
                <a:latin typeface="Calibri"/>
              </a:rPr>
              <a:t>400 ha farm · €3,200 ACV
5-year avg. lifetime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1508760"/>
            <a:ext cx="2194560" cy="3474720"/>
          </a:xfrm>
          <a:prstGeom prst="rect">
            <a:avLst/>
          </a:prstGeom>
          <a:solidFill>
            <a:srgbClr val="12221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7496" y="1508760"/>
            <a:ext cx="21945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1783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Data-Layer GM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3429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78"/>
                </a:solidFill>
                <a:latin typeface="Calibri"/>
              </a:rPr>
              <a:t>Sentinel-2 cost = €0
Infra cost = €0.20/ha/yr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6648" y="1508760"/>
            <a:ext cx="2194560" cy="3474720"/>
          </a:xfrm>
          <a:prstGeom prst="rect">
            <a:avLst/>
          </a:prstGeom>
          <a:solidFill>
            <a:srgbClr val="122212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56648" y="1508760"/>
            <a:ext cx="21945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1783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€0.20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Infra per 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429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78"/>
                </a:solidFill>
                <a:latin typeface="Calibri"/>
              </a:rPr>
              <a:t>Total compute + storage
per hectare per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212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Calibri"/>
              </a:rPr>
              <a:t>Customer Acquisition by Channel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23560"/>
            <a:ext cx="2834640" cy="1005840"/>
          </a:xfrm>
          <a:prstGeom prst="rect">
            <a:avLst/>
          </a:prstGeom>
          <a:solidFill>
            <a:srgbClr val="1A301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687568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BB6A"/>
                </a:solidFill>
                <a:latin typeface="Calibri"/>
              </a:rPr>
              <a:t>Content / Inbound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998464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€400–800 / 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6281928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78"/>
                </a:solidFill>
                <a:latin typeface="Calibri"/>
              </a:rPr>
              <a:t>Lowest cost · scales automatically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" y="5623560"/>
            <a:ext cx="2834640" cy="1005840"/>
          </a:xfrm>
          <a:prstGeom prst="rect">
            <a:avLst/>
          </a:prstGeom>
          <a:solidFill>
            <a:srgbClr val="1A301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5687568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BB6A"/>
                </a:solidFill>
                <a:latin typeface="Calibri"/>
              </a:rPr>
              <a:t>Cooperative 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5998464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€600–1,200 / customer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4136" y="6281928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78"/>
                </a:solidFill>
                <a:latin typeface="Calibri"/>
              </a:rPr>
              <a:t>Shared cost · high volume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5623560"/>
            <a:ext cx="2834640" cy="1005840"/>
          </a:xfrm>
          <a:prstGeom prst="rect">
            <a:avLst/>
          </a:prstGeom>
          <a:solidFill>
            <a:srgbClr val="1A301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5687568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BB6A"/>
                </a:solidFill>
                <a:latin typeface="Calibri"/>
              </a:rPr>
              <a:t>Direct Outbound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5998464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€1,500–3,000 / 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6281928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78"/>
                </a:solidFill>
                <a:latin typeface="Calibri"/>
              </a:rPr>
              <a:t>Large farms · high ACV offsets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53144" y="5623560"/>
            <a:ext cx="2834640" cy="1005840"/>
          </a:xfrm>
          <a:prstGeom prst="rect">
            <a:avLst/>
          </a:prstGeom>
          <a:solidFill>
            <a:srgbClr val="1A301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5687568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BB6A"/>
                </a:solidFill>
                <a:latin typeface="Calibri"/>
              </a:rPr>
              <a:t>Blended Y1 / Y2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5998464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€1,200 / €800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6281928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78"/>
                </a:solidFill>
                <a:latin typeface="Calibri"/>
              </a:rPr>
              <a:t>Improves as brand awareness builds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We sit at the intersection of open data, regulatory alignment, and pure-play focus.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6217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325880"/>
            <a:ext cx="12700" cy="5120640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3886200"/>
            <a:ext cx="6217920" cy="12700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7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9078"/>
                </a:solidFill>
                <a:latin typeface="Calibri"/>
              </a:rPr>
              <a:t>← Higher Data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6497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B4D1F"/>
                </a:solidFill>
                <a:latin typeface="Calibri"/>
              </a:rPr>
              <a:t>Lower Data Cost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" y="1417320"/>
            <a:ext cx="228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B4D1F"/>
                </a:solidFill>
                <a:latin typeface="Calibri"/>
              </a:rPr>
              <a:t>↑ Pesticide VRA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" y="3977640"/>
            <a:ext cx="228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9078"/>
                </a:solidFill>
                <a:latin typeface="Calibri"/>
              </a:rPr>
              <a:t>General Purpose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3317" y="1827276"/>
            <a:ext cx="533400" cy="53340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1377" y="23860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4D1F"/>
                </a:solidFill>
                <a:latin typeface="Calibri"/>
              </a:rPr>
              <a:t>AgroLens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937" y="15072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A825"/>
                </a:solidFill>
                <a:latin typeface="Calibri"/>
              </a:rPr>
              <a:t>★ You are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6720" y="2940304"/>
            <a:ext cx="355600" cy="3556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3213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Taranis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56816" y="4937760"/>
            <a:ext cx="4572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6776" y="542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FieldView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7496" y="3989832"/>
            <a:ext cx="304800" cy="304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91256" y="4320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EOSDA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3924" y="4258564"/>
            <a:ext cx="279400" cy="279400"/>
          </a:xfrm>
          <a:prstGeom prst="rect">
            <a:avLst/>
          </a:prstGeom>
          <a:solidFill>
            <a:srgbClr val="789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45633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F.Edge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371600"/>
            <a:ext cx="1541780" cy="41148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4660" y="1422400"/>
            <a:ext cx="14782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371600"/>
            <a:ext cx="1084580" cy="4114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9140" y="1422400"/>
            <a:ext cx="1021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AgroLens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371600"/>
            <a:ext cx="1084580" cy="411480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6420" y="1422400"/>
            <a:ext cx="1021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Taranis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371600"/>
            <a:ext cx="1084580" cy="411480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3700" y="1422400"/>
            <a:ext cx="1021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FieldView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12880" y="1371600"/>
            <a:ext cx="1084580" cy="411480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50980" y="1422400"/>
            <a:ext cx="1021080" cy="3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EOSDA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783080"/>
            <a:ext cx="15417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4660" y="182118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Satellite data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78308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9140" y="18211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7D32"/>
                </a:solidFill>
                <a:latin typeface="Calibri"/>
              </a:rPr>
              <a:t>Free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78308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6420" y="18211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Paid 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178308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53700" y="18211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Mixed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612880" y="178308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50980" y="18211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Paid 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194560"/>
            <a:ext cx="15417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04660" y="223266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VRA pesticide focus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219456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9140" y="223266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7D32"/>
                </a:solidFill>
                <a:latin typeface="Calibri"/>
              </a:rPr>
              <a:t>Pure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219456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56420" y="223266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15600" y="219456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53700" y="223266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Minimal 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612880" y="219456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50980" y="223266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Partial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2606040"/>
            <a:ext cx="15417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04660" y="264414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EU regulatory tools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260604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9140" y="264414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7D32"/>
                </a:solidFill>
                <a:latin typeface="Calibri"/>
              </a:rPr>
              <a:t>Built-in 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260604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56420" y="264414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Limited 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260604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53700" y="264414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Limited 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612880" y="260604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650980" y="264414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Limited 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3017520"/>
            <a:ext cx="15417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04660" y="305562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Independent of sellers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301752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59140" y="305562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7D32"/>
                </a:solidFill>
                <a:latin typeface="Calibri"/>
              </a:rPr>
              <a:t>Yes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301752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56420" y="305562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15600" y="301752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53700" y="305562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1C1C"/>
                </a:solidFill>
                <a:latin typeface="Calibri"/>
              </a:rPr>
              <a:t>No 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612880" y="301752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650980" y="305562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3429000"/>
            <a:ext cx="15417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04660" y="346710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Price (€/ha/yr)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21040" y="342900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59140" y="346710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B4D1F"/>
                </a:solidFill>
                <a:latin typeface="Calibri"/>
              </a:rPr>
              <a:t>€4–12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342900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56420" y="346710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€15–25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15600" y="342900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53700" y="346710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€7–12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612880" y="3429000"/>
            <a:ext cx="10845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650980" y="346710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€5–15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66560" y="3840480"/>
            <a:ext cx="15417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04660" y="3878580"/>
            <a:ext cx="14782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Hardware required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3840480"/>
            <a:ext cx="108458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59140" y="38785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7D32"/>
                </a:solidFill>
                <a:latin typeface="Calibri"/>
              </a:rPr>
              <a:t>No 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8320" y="384048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56420" y="38785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Partial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15600" y="384048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53700" y="38785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0" y="3840480"/>
            <a:ext cx="1084580" cy="411480"/>
          </a:xfrm>
          <a:prstGeom prst="rect">
            <a:avLst/>
          </a:prstGeom>
          <a:solidFill>
            <a:srgbClr val="ECF5EC"/>
          </a:solidFill>
          <a:ln w="635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650980" y="3878580"/>
            <a:ext cx="102108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Regulatory 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Three independent mandates create structural demand for AgroLens.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5120640"/>
          </a:xfrm>
          <a:prstGeom prst="rect">
            <a:avLst/>
          </a:prstGeom>
          <a:solidFill>
            <a:srgbClr val="122212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49039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🇪🇺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3017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EU Farm to Fork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29968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BB6A"/>
                </a:solidFill>
                <a:latin typeface="Calibri"/>
              </a:rPr>
              <a:t>Target: −50% pesticide use by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68880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Embedded in the European Green Deal — politically unmovable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090672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Individual Member States (Germany, France, Netherlands) advancing national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712464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AgroLens VRA maps serve as compliance documentation for eco-scheme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334256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CAP 2023–2027 eco-scheme payments directly reward documented precision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5440680"/>
            <a:ext cx="3529583" cy="841248"/>
          </a:xfrm>
          <a:prstGeom prst="rect">
            <a:avLst/>
          </a:prstGeom>
          <a:solidFill>
            <a:srgbClr val="1B3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5532120"/>
            <a:ext cx="3419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€32B in CAP eco-scheme
payments available to farmers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3749039" cy="5120640"/>
          </a:xfrm>
          <a:prstGeom prst="rect">
            <a:avLst/>
          </a:prstGeom>
          <a:solidFill>
            <a:srgbClr val="122212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371600"/>
            <a:ext cx="3749039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🇩🇪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36192"/>
            <a:ext cx="3017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German §67 PflSchG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029968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BB6A"/>
                </a:solidFill>
                <a:latin typeface="Calibri"/>
              </a:rPr>
              <a:t>Pesticide application must be documented by law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468880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Every spray event requires field ID, product, rate, date, applicator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090672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AgroLens SprayingRecord model auto-generates §67-compliant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712464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FLIK field identifier pre-filled from German InVeKoS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334256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Fines up to €50,000 for non-compliance — compliance tool is non-negotiable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5440680"/>
            <a:ext cx="3529583" cy="841248"/>
          </a:xfrm>
          <a:prstGeom prst="rect">
            <a:avLst/>
          </a:prstGeom>
          <a:solidFill>
            <a:srgbClr val="1B3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5532120"/>
            <a:ext cx="3419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600,000+ farms in Germany
required to comply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1371600"/>
            <a:ext cx="3749039" cy="5120640"/>
          </a:xfrm>
          <a:prstGeom prst="rect">
            <a:avLst/>
          </a:prstGeom>
          <a:solidFill>
            <a:srgbClr val="122212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1371600"/>
            <a:ext cx="3749039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1508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🇺🇸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536192"/>
            <a:ext cx="3017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Calibri"/>
              </a:rPr>
              <a:t>US EPA ESA Pesticide Strategies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029968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BB6A"/>
                </a:solidFill>
                <a:latin typeface="Calibri"/>
              </a:rPr>
              <a:t>Herbicide Strategy (Aug 2024) + Insecticide Strategy (Apr 2025)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2468880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Mitigation requirements for pesticide use near endangered species habitats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090672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Farmers in ESA zones face legal risk from blanket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3712464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VRA prescription maps provide defensible compliance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4334256"/>
            <a:ext cx="35295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• EPA consultations expected to extend into the 2030s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8" y="5440680"/>
            <a:ext cx="3529583" cy="841248"/>
          </a:xfrm>
          <a:prstGeom prst="rect">
            <a:avLst/>
          </a:prstGeom>
          <a:solidFill>
            <a:srgbClr val="1B3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5532120"/>
            <a:ext cx="3419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  <a:latin typeface="Calibri"/>
              </a:rPr>
              <a:t>130M+ acres of US row crops
affected by ESA mitigation zones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Traction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Full-stack MVP built in 5 phases — production-ready, validator-approved.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2144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0" y="1554480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447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351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351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Docker, PostgreSQL + PostGIS, Redis, Alembic migrations,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332"/>
            <a:ext cx="1152144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0" y="2331212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2245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211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Auth &amp; Data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1183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User/Farm/Field ORM models, Supabase JWT auth, API key auth, rate limiting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25064"/>
            <a:ext cx="1152144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9920" y="3107944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001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885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Satellite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88564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Sentinel-2 imagery ingestion, NDVI/NDRE computation, cloud masking, AWS S3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1796"/>
            <a:ext cx="1152144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0" y="3884676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7779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65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AI Prescription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765296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k-means zone delineation, VRA prescription rules, TASKDATA.XML + Shapefile + PDF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78528"/>
            <a:ext cx="1152144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89920" y="4661408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54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420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Dashboard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542028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Mapbox GL dashboard, Recharts NDVI analytics, notification preferences, API keys, PWA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55260"/>
            <a:ext cx="11521440" cy="713232"/>
          </a:xfrm>
          <a:prstGeom prst="rect">
            <a:avLst/>
          </a:prstGeom>
          <a:solidFill>
            <a:srgbClr val="FFF9E6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89920" y="5438140"/>
            <a:ext cx="914400" cy="347472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F0D"/>
                </a:solidFill>
                <a:latin typeface="Calibri"/>
              </a:rPr>
              <a:t>🔧 IN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3314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9078"/>
                </a:solidFill>
                <a:latin typeface="Calibri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31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1F"/>
                </a:solidFill>
                <a:latin typeface="Calibri"/>
              </a:rPr>
              <a:t>Billing (in build)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31876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Stripe subscriptions, plan enforcement, billing portal — currently under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D1F"/>
                </a:solidFill>
                <a:latin typeface="Calibri"/>
              </a:rPr>
              <a:t>Tech Stack: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6400800"/>
            <a:ext cx="100584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32380" y="6400800"/>
            <a:ext cx="128016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Next.js 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76040" y="6400800"/>
            <a:ext cx="201168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PostgreSQL+PostGIS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1220" y="6400800"/>
            <a:ext cx="146304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Celery+Redis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7760" y="6400800"/>
            <a:ext cx="146304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4300" y="6400800"/>
            <a:ext cx="118872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Mapbox GL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56520" y="6400800"/>
            <a:ext cx="155448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Supabase Auth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4500" y="6400800"/>
            <a:ext cx="91440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AWS S3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852400" y="6400800"/>
            <a:ext cx="91440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830300" y="6400800"/>
            <a:ext cx="914400" cy="274320"/>
          </a:xfrm>
          <a:prstGeom prst="round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Sentry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3460"/>
            <a:ext cx="12188952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Investment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8E9"/>
                </a:solidFill>
                <a:latin typeface="Calibri"/>
              </a:rPr>
              <a:t>Seed round to reach 120,000 ha under management and EBITDA breakeven.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4937760" cy="2286000"/>
          </a:xfrm>
          <a:prstGeom prst="rect">
            <a:avLst/>
          </a:prstGeom>
          <a:solidFill>
            <a:srgbClr val="122212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9A825"/>
                </a:solidFill>
                <a:latin typeface="Calibri"/>
              </a:rPr>
              <a:t>€500K – €1.5M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1F8E9"/>
                </a:solidFill>
                <a:latin typeface="Calibri"/>
              </a:rPr>
              <a:t>Seed Round  ·  18–24 months runway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A825"/>
                </a:solidFill>
                <a:latin typeface="Calibri"/>
              </a:rPr>
              <a:t>Use of Funds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920240"/>
            <a:ext cx="50292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02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0D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71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€600K  —  Product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78"/>
                </a:solidFill>
                <a:latin typeface="Calibri"/>
              </a:rPr>
              <a:t>Backend, ML pipeline, ISOBUS integrations, mobile app, EU cloud infra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926080"/>
            <a:ext cx="50292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02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0D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76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€375K  —  Sales &amp;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37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78"/>
                </a:solidFill>
                <a:latin typeface="Calibri"/>
              </a:rPr>
              <a:t>Cooperative partnerships, trade shows (Agritechnica), content, pilots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931920"/>
            <a:ext cx="50292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403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0D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82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€300K  — 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78"/>
                </a:solidFill>
                <a:latin typeface="Calibri"/>
              </a:rPr>
              <a:t>CEO + 2 engineers + 1 agronomist advisor (18-month plan)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937760"/>
            <a:ext cx="50292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5039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F0D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88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€225K  —  Operations &amp;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078"/>
                </a:solidFill>
                <a:latin typeface="Calibri"/>
              </a:rPr>
              <a:t>Entity formation, GDPR compliance, SOC 2, professional indemnity insurance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A825"/>
                </a:solidFill>
                <a:latin typeface="Calibri"/>
              </a:rPr>
              <a:t>Milestones This Round Funds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3891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10 paid pilot farms onboarded (October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71830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Sentinel-2 pipeline live — first ISOBUS prescription delivered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04748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One cooperative partnership signed (50,000+ ha reach)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3766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120,000 ha under management by end of Year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7058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EU EIC Accelerator grant application submitted (co-investment)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0350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→  SOC 2 Type I audit initiated (Month 12)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3891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Target Investors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7548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8E9"/>
                </a:solidFill>
                <a:latin typeface="Calibri"/>
              </a:rPr>
              <a:t>Anterra Capital  ·  Astanor Ventures  ·  SYSTEMIQ Capital  ·  EIC Accelerator (EU)
Impact-focused family offices  ·  Agri-tech corporate strategics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4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🌿 AgroLens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8E9"/>
                </a:solidFill>
                <a:latin typeface="Calibri"/>
              </a:rPr>
              <a:t>Precision Pesticide Intelligence
via Satellite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83280"/>
            <a:ext cx="256032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€11.7B precision ag market · 13.1% 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776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Free satellite data = structural cost moat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20–40% pesticide reduction 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€3.95M ARR projected by 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12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Breakeven at Month 30 (Q3 2028)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23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✓  Seeking €500K–€1.5M seed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371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9A825"/>
                </a:solidFill>
                <a:latin typeface="Calibri"/>
              </a:rPr>
              <a:t>Let's 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03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Daniel Schaller —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560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daniel.philipp.schaller@gmail.com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017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78"/>
                </a:solidFill>
                <a:latin typeface="Calibri"/>
              </a:rPr>
              <a:t>agrolens.io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74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78"/>
                </a:solidFill>
                <a:latin typeface="Calibri"/>
              </a:rPr>
              <a:t>Germany · May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4114800"/>
            <a:ext cx="6217920" cy="1905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42519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BB6A"/>
                </a:solidFill>
                <a:latin typeface="Calibri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7091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1.  30-minute product demo (live dashboard walkthrough)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1206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2.  Share data room: full financial model, cap table, IP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5321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3.  Reference calls: pilot farm contacts available on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943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8E9"/>
                </a:solidFill>
                <a:latin typeface="Calibri"/>
              </a:rPr>
              <a:t>4.  Term sheet target: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9078"/>
                </a:solidFill>
                <a:latin typeface="Calibri"/>
              </a:rPr>
              <a:t>This document is confidential and intended solely for accredited investors.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